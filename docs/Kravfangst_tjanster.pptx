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48" r:id="rId5"/>
    <p:sldId id="549" r:id="rId12"/>
    <p:sldId id="550" r:id="rId13"/>
    <p:sldId id="551" r:id="rId14"/>
    <p:sldId id="257" r:id="rId6"/>
    <p:sldId id="554" r:id="rId17"/>
    <p:sldId id="555" r:id="rId18"/>
    <p:sldId id="552" r:id="rId15"/>
    <p:sldId id="553" r:id="rId16"/>
    <p:sldId id="556" r:id="rId1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 Rinman" initials="PR" lastIdx="0" clrIdx="0">
    <p:extLst>
      <p:ext uri="{19B8F6BF-5375-455C-9EA6-DF929625EA0E}">
        <p15:presenceInfo xmlns:p15="http://schemas.microsoft.com/office/powerpoint/2012/main" userId="S-1-5-21-3844198444-1975448979-1319493950-30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llanmörkt format 4 - Dekorfär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llanmörkt format 2 - Dekorfär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403D2F-30AD-4D70-A7BC-3932CA70E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FD4545F2-CED5-4FAD-BE97-B36EDA716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7B25208-5AB3-4DE2-813F-724AE6B8F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F50E8A4F-9C88-4B3B-B8D6-E0DE82B7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D377A08-0262-4E8A-A879-7C12DD56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6985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A25F871-7153-4B3E-9C1C-DB5ED1C93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4867EBC-C568-4DCE-BCCA-4BBF3E002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0E7485B2-EB61-4782-B1B5-624DE3FA0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E881867E-B2A5-4E5C-BE0E-763F498A7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BB3FAFB-A758-4F9C-B161-D9702C408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86572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C1D03E5-5B35-45CF-A4F3-FC130CE72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A65BC547-9843-4443-A4B1-A37FE3652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82BBB5AC-A484-4BF9-B3B6-3110E6C5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1D2D9267-BFC4-47A7-B135-F3CAADC1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4FE5B0A2-A96C-476A-8D18-4C9FFE323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049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50B7521-13E1-4344-B182-983AC2F7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0E5D368-8A53-4C53-AB8E-F409BD97E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B1F25CE5-7FD4-4593-A355-8B88EA1AF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CE28974-92CE-410C-86A1-B60DE7A4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69E10A87-072F-40A7-BDB6-2318B0988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CCE63EA-2D20-42F4-A059-3D7E3256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4422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7F61A52-F2B3-4822-A44E-018462197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29011AF-987D-4B22-89E1-8BACA4DF6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8087D4A-73EF-442A-83E4-8839FA5B2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E9DFEDD8-A998-41B1-9F92-D72E97108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BCF2FD1B-C0DB-4550-8A70-EBC295D3F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C2E4DDFA-0A85-49EE-B86B-B67B6C6B5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6558A11F-AEF6-4157-B943-38E3DA45F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1C04C38C-D682-4416-9444-73E7191A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135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D9FB9A8-9E19-4AD7-91A3-FA5713CBD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E64B754A-6B3F-47C2-A595-2E8C4C85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EAE291E8-E994-4226-AB58-95D3AA02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52902B71-F9F2-4B67-B960-732E16D7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9115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B08667B2-D862-4D9A-9B37-02B4C8A23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616B366C-FE71-4108-B183-4CD283F2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5F29BCF3-91C1-4895-9CB6-F0CDE86F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8065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36560CF-B54D-4457-8952-4CAEE3F7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EE0C026-8854-4F26-82E7-995258745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E733615A-4624-4556-AEE0-EC5A1C299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51222035-2CB7-4DFE-8A52-0B80C8A4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3EE7460-7E1A-477C-B37B-F5CD831F8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FF242C55-CB8F-4819-B53E-826FB7EAA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7842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3ACDC1C-3C96-48A8-9B39-3564DC99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AA4335C4-3C9B-4003-B084-A5E7CFEA70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77280A6-9CB8-474C-9C2B-014C8E94E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Redigera format för bakgrundstext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5746192-00A8-46E2-AAE3-FB6C3B2E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D32E145D-4530-4100-9B07-4B5495C3C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B041E8F-FE70-4FF4-8B73-DE751608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9993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5D7F1C4-929E-4790-8BFF-5E7BA55C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1A45120-6A10-4563-9E50-47311142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9B6C01D-5137-41A5-A469-4103647A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B08CFCC-CBDE-49C4-B7B3-C3F0AC2B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F4FB61F-D89E-44AE-865C-5078C1BDE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1639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864EC28E-61BB-4B9C-BD80-DB0CB6039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D0B8C397-1A43-41EE-9861-C90DACA09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0354F3D-072A-456D-B129-324FF406E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7FE0C37D-5BDE-48E6-871F-D30A66A6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1548B65-F7C4-4CB7-95B0-7670355B3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3892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rtbild vå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lips 4">
            <a:extLst>
              <a:ext uri="{FF2B5EF4-FFF2-40B4-BE49-F238E27FC236}">
                <a16:creationId xmlns:a16="http://schemas.microsoft.com/office/drawing/2014/main" id="{AF99BB38-F72E-AB77-5454-83B6E71B8376}"/>
              </a:ext>
            </a:extLst>
          </p:cNvPr>
          <p:cNvSpPr/>
          <p:nvPr userDrawn="1"/>
        </p:nvSpPr>
        <p:spPr>
          <a:xfrm>
            <a:off x="10440923" y="5217095"/>
            <a:ext cx="2882821" cy="2594539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3AC51D77-B477-5D25-479A-8BD9E584BE1B}"/>
              </a:ext>
            </a:extLst>
          </p:cNvPr>
          <p:cNvSpPr/>
          <p:nvPr userDrawn="1"/>
        </p:nvSpPr>
        <p:spPr>
          <a:xfrm>
            <a:off x="9674592" y="3980622"/>
            <a:ext cx="1532661" cy="1379395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7" name="Ellips 6">
            <a:extLst>
              <a:ext uri="{FF2B5EF4-FFF2-40B4-BE49-F238E27FC236}">
                <a16:creationId xmlns:a16="http://schemas.microsoft.com/office/drawing/2014/main" id="{2C4EC625-C207-8391-14C3-7BDFDFE31EA3}"/>
              </a:ext>
            </a:extLst>
          </p:cNvPr>
          <p:cNvSpPr/>
          <p:nvPr userDrawn="1"/>
        </p:nvSpPr>
        <p:spPr>
          <a:xfrm>
            <a:off x="7853793" y="4487698"/>
            <a:ext cx="1620884" cy="1458796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8" name="Ellips 7">
            <a:extLst>
              <a:ext uri="{FF2B5EF4-FFF2-40B4-BE49-F238E27FC236}">
                <a16:creationId xmlns:a16="http://schemas.microsoft.com/office/drawing/2014/main" id="{9C85BE8C-A208-2014-BE80-67AE4023B7D8}"/>
              </a:ext>
            </a:extLst>
          </p:cNvPr>
          <p:cNvSpPr/>
          <p:nvPr userDrawn="1"/>
        </p:nvSpPr>
        <p:spPr>
          <a:xfrm>
            <a:off x="8417391" y="3062151"/>
            <a:ext cx="1282524" cy="1154272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9" name="Ellips 8">
            <a:extLst>
              <a:ext uri="{FF2B5EF4-FFF2-40B4-BE49-F238E27FC236}">
                <a16:creationId xmlns:a16="http://schemas.microsoft.com/office/drawing/2014/main" id="{51571748-29C7-DE69-7C89-25C08AB7290B}"/>
              </a:ext>
            </a:extLst>
          </p:cNvPr>
          <p:cNvSpPr/>
          <p:nvPr userDrawn="1"/>
        </p:nvSpPr>
        <p:spPr>
          <a:xfrm>
            <a:off x="7154547" y="3770648"/>
            <a:ext cx="699245" cy="629321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10" name="Ellips 9">
            <a:extLst>
              <a:ext uri="{FF2B5EF4-FFF2-40B4-BE49-F238E27FC236}">
                <a16:creationId xmlns:a16="http://schemas.microsoft.com/office/drawing/2014/main" id="{BBE82C55-AEFD-CE5B-9632-70312F4004A7}"/>
              </a:ext>
            </a:extLst>
          </p:cNvPr>
          <p:cNvSpPr/>
          <p:nvPr userDrawn="1"/>
        </p:nvSpPr>
        <p:spPr>
          <a:xfrm>
            <a:off x="9256310" y="6034222"/>
            <a:ext cx="641263" cy="577136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11" name="Ellips 10">
            <a:extLst>
              <a:ext uri="{FF2B5EF4-FFF2-40B4-BE49-F238E27FC236}">
                <a16:creationId xmlns:a16="http://schemas.microsoft.com/office/drawing/2014/main" id="{90927450-1226-7127-AD70-06C3137D1037}"/>
              </a:ext>
            </a:extLst>
          </p:cNvPr>
          <p:cNvSpPr/>
          <p:nvPr userDrawn="1"/>
        </p:nvSpPr>
        <p:spPr>
          <a:xfrm>
            <a:off x="10828197" y="3062151"/>
            <a:ext cx="843963" cy="759566"/>
          </a:xfrm>
          <a:prstGeom prst="ellipse">
            <a:avLst/>
          </a:prstGeom>
          <a:solidFill>
            <a:schemeClr val="bg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2160"/>
          </a:p>
        </p:txBody>
      </p:sp>
      <p:sp>
        <p:nvSpPr>
          <p:cNvPr id="42" name="Rubrik 1"/>
          <p:cNvSpPr>
            <a:spLocks noGrp="1"/>
          </p:cNvSpPr>
          <p:nvPr userDrawn="1">
            <p:ph type="ctrTitle"/>
          </p:nvPr>
        </p:nvSpPr>
        <p:spPr>
          <a:xfrm>
            <a:off x="0" y="2295222"/>
            <a:ext cx="12192000" cy="1403461"/>
          </a:xfrm>
          <a:noFill/>
        </p:spPr>
        <p:txBody>
          <a:bodyPr bIns="0" anchor="ctr"/>
          <a:lstStyle>
            <a:lvl1pPr algn="ctr">
              <a:defRPr sz="4800">
                <a:solidFill>
                  <a:schemeClr val="bg1"/>
                </a:solidFill>
                <a:effectLst/>
              </a:defRPr>
            </a:lvl1pPr>
          </a:lstStyle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43" name="Underrubrik 2"/>
          <p:cNvSpPr>
            <a:spLocks noGrp="1"/>
          </p:cNvSpPr>
          <p:nvPr userDrawn="1">
            <p:ph type="subTitle" idx="1"/>
          </p:nvPr>
        </p:nvSpPr>
        <p:spPr>
          <a:xfrm>
            <a:off x="2256000" y="5208377"/>
            <a:ext cx="7680000" cy="4912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0" indent="0" algn="ctr">
              <a:buNone/>
              <a:defRPr sz="2880">
                <a:solidFill>
                  <a:schemeClr val="bg1"/>
                </a:solidFill>
                <a:effectLst/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mall för underrubrikformat</a:t>
            </a:r>
            <a:endParaRPr lang="sv-SE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2EB8042-94CE-CE9D-1C09-67D6161B88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239349" y="6280517"/>
            <a:ext cx="927099" cy="37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584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3377AA5F-061E-4270-97E3-D01B346F6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E8C147B4-6FC4-4CAF-9BD9-AF30C56E5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Redigera format för bakgrundstext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A19B536-038D-4FB3-AA17-577AB070B3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1203C-E4F4-488B-BA49-5AE108B3937F}" type="datetimeFigureOut">
              <a:rPr lang="sv-SE" smtClean="0"/>
              <a:t>2025-05-19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79DAAAC-508A-4E0A-870B-BA15DD3C4C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BD1839B-5032-4C2C-9790-10E33668B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33B83-E3B3-48EA-8FE2-968556A60025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8172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package" Target="../embeddings/Microsoft_Excel_Worksheet.xlsx"/><Relationship Id="rId3" Type="http://schemas.openxmlformats.org/officeDocument/2006/relationships/image" Target="../media/image4.emf"/><Relationship Id="rId4" Type="http://schemas.openxmlformats.org/officeDocument/2006/relationships/package" Target="../embeddings/Microsoft_Excel_Worksheet1.xlsx"/><Relationship Id="rId5" Type="http://schemas.openxmlformats.org/officeDocument/2006/relationships/image" Target="../media/image5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21B62C9-8033-44E6-A949-5902B6CE0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429000"/>
            <a:ext cx="10972800" cy="701730"/>
          </a:xfrm>
        </p:spPr>
        <p:txBody>
          <a:bodyPr>
            <a:normAutofit fontScale="90000"/>
          </a:bodyPr>
          <a:lstStyle/>
          <a:p>
            <a:r>
              <a:rPr lang="sv-SE" dirty="0"/>
              <a:t>Kravfångst som tjänst</a:t>
            </a:r>
            <a:endParaRPr lang="sv-SE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6E5132A-C3F1-42EB-B414-09B87DC56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0000" y="5208377"/>
            <a:ext cx="6912000" cy="491225"/>
          </a:xfrm>
        </p:spPr>
        <p:txBody>
          <a:bodyPr/>
          <a:lstStyle/>
          <a:p>
            <a:r>
              <a:rPr lang="sv-SE" dirty="0"/>
              <a:t>Större initiativ och mindre vidareutveckling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85E8B173-4CD0-447A-B1C7-ADF18CFA7711}"/>
              </a:ext>
            </a:extLst>
          </p:cNvPr>
          <p:cNvSpPr/>
          <p:nvPr/>
        </p:nvSpPr>
        <p:spPr>
          <a:xfrm>
            <a:off x="3781618" y="4408165"/>
            <a:ext cx="5453297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2160" dirty="0">
                <a:solidFill>
                  <a:schemeClr val="bg1"/>
                </a:solidFill>
              </a:rPr>
              <a:t>Värdestyrd beslutsprocess för utveckling</a:t>
            </a:r>
          </a:p>
        </p:txBody>
      </p:sp>
    </p:spTree>
    <p:extLst>
      <p:ext uri="{BB962C8B-B14F-4D97-AF65-F5344CB8AC3E}">
        <p14:creationId xmlns:p14="http://schemas.microsoft.com/office/powerpoint/2010/main" val="1525464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A0D261E-EFC9-48B9-9725-3A7F3E619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7" cy="450663"/>
          </a:xfrm>
        </p:spPr>
        <p:txBody>
          <a:bodyPr>
            <a:normAutofit fontScale="90000"/>
          </a:bodyPr>
          <a:lstStyle/>
          <a:p>
            <a:r>
              <a:rPr lang="sv-SE" dirty="0"/>
              <a:t>Underlag A – Business case för större initiativ</a:t>
            </a:r>
            <a:endParaRPr lang="sv-SE" dirty="0"/>
          </a:p>
        </p:txBody>
      </p:sp>
      <p:graphicFrame>
        <p:nvGraphicFramePr>
          <p:cNvPr id="7" name="Tabell 6">
            <a:extLst>
              <a:ext uri="{FF2B5EF4-FFF2-40B4-BE49-F238E27FC236}">
                <a16:creationId xmlns:a16="http://schemas.microsoft.com/office/drawing/2014/main" id="{6E5D086F-47EC-4B08-95BB-A2088B38B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53718"/>
              </p:ext>
            </p:extLst>
          </p:nvPr>
        </p:nvGraphicFramePr>
        <p:xfrm>
          <a:off x="672353" y="999385"/>
          <a:ext cx="10681445" cy="5816799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2136289">
                  <a:extLst>
                    <a:ext uri="{9D8B030D-6E8A-4147-A177-3AD203B41FA5}">
                      <a16:colId xmlns:a16="http://schemas.microsoft.com/office/drawing/2014/main" val="3846572210"/>
                    </a:ext>
                  </a:extLst>
                </a:gridCol>
                <a:gridCol w="2136289">
                  <a:extLst>
                    <a:ext uri="{9D8B030D-6E8A-4147-A177-3AD203B41FA5}">
                      <a16:colId xmlns:a16="http://schemas.microsoft.com/office/drawing/2014/main" val="3412121146"/>
                    </a:ext>
                  </a:extLst>
                </a:gridCol>
                <a:gridCol w="2136289">
                  <a:extLst>
                    <a:ext uri="{9D8B030D-6E8A-4147-A177-3AD203B41FA5}">
                      <a16:colId xmlns:a16="http://schemas.microsoft.com/office/drawing/2014/main" val="3986358499"/>
                    </a:ext>
                  </a:extLst>
                </a:gridCol>
                <a:gridCol w="2136289">
                  <a:extLst>
                    <a:ext uri="{9D8B030D-6E8A-4147-A177-3AD203B41FA5}">
                      <a16:colId xmlns:a16="http://schemas.microsoft.com/office/drawing/2014/main" val="2444570995"/>
                    </a:ext>
                  </a:extLst>
                </a:gridCol>
                <a:gridCol w="2136289">
                  <a:extLst>
                    <a:ext uri="{9D8B030D-6E8A-4147-A177-3AD203B41FA5}">
                      <a16:colId xmlns:a16="http://schemas.microsoft.com/office/drawing/2014/main" val="3531933647"/>
                    </a:ext>
                  </a:extLst>
                </a:gridCol>
              </a:tblGrid>
              <a:tr h="453296">
                <a:tc gridSpan="4">
                  <a:txBody>
                    <a:bodyPr/>
                    <a:lstStyle/>
                    <a:p>
                      <a:r>
                        <a:rPr lang="sv-SE" dirty="0"/>
                        <a:t>[Initiativets namn]  ·  Tjänst A – Kravfångst större initiativ</a:t>
                      </a:r>
                      <a:endParaRPr lang="sv-SE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000" b="1" dirty="0"/>
                        <a:t>Beställare/initiativtagare</a:t>
                      </a:r>
                    </a:p>
                    <a:p>
                      <a:r>
                        <a:rPr lang="sv-SE" sz="1000" dirty="0"/>
                        <a:t>Namn </a:t>
                      </a:r>
                      <a:r>
                        <a:rPr lang="sv-SE" sz="1000" dirty="0" err="1"/>
                        <a:t>Namsson</a:t>
                      </a:r>
                      <a:br>
                        <a:rPr lang="sv-SE" sz="1000" dirty="0"/>
                      </a:br>
                      <a:r>
                        <a:rPr lang="sv-SE" sz="1000" dirty="0"/>
                        <a:t>ÅÅÅÅ-MM-DD</a:t>
                      </a:r>
                      <a:endParaRPr lang="sv-SE" sz="1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76305"/>
                  </a:ext>
                </a:extLst>
              </a:tr>
              <a:tr h="2998074">
                <a:tc rowSpan="2">
                  <a:txBody>
                    <a:bodyPr/>
                    <a:lstStyle/>
                    <a:p>
                      <a:r>
                        <a:rPr lang="sv-SE" sz="1200" dirty="0"/>
                        <a:t>Problem</a:t>
                      </a:r>
                      <a:br>
                        <a:rPr lang="sv-SE" sz="1000" dirty="0"/>
                      </a:br>
                      <a:r>
                        <a:rPr lang="sv-SE" sz="1000" dirty="0"/>
                        <a:t>Vad är problemet</a:t>
                      </a:r>
                    </a:p>
                    <a:p>
                      <a:r>
                        <a:rPr lang="sv-SE" sz="1000" dirty="0"/>
                        <a:t>Vem har problem</a:t>
                      </a:r>
                    </a:p>
                    <a:p>
                      <a:r>
                        <a:rPr lang="sv-SE" sz="1000" dirty="0"/>
                        <a:t>Varför är det viktigt?</a:t>
                      </a:r>
                    </a:p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200" dirty="0"/>
                        <a:t>Lösning</a:t>
                      </a:r>
                    </a:p>
                    <a:p>
                      <a:r>
                        <a:rPr lang="sv-SE" sz="1000" dirty="0"/>
                        <a:t>Vad är den föreslagna lösningen?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sv-SE" sz="1200" dirty="0"/>
                        <a:t>Effekter</a:t>
                      </a:r>
                      <a:br>
                        <a:rPr lang="sv-SE" sz="1200" dirty="0"/>
                      </a:br>
                      <a:r>
                        <a:rPr lang="sv-SE" sz="1000" dirty="0"/>
                        <a:t>Varför gör vi det här?</a:t>
                      </a:r>
                      <a:br>
                        <a:rPr lang="sv-SE" sz="1000" dirty="0"/>
                      </a:br>
                      <a:r>
                        <a:rPr lang="sv-SE" sz="1000" dirty="0"/>
                        <a:t>Vad vill vi uppnå?</a:t>
                      </a:r>
                    </a:p>
                    <a:p>
                      <a:r>
                        <a:rPr lang="sv-SE" sz="1000" dirty="0"/>
                        <a:t>Vilka är de finansiella/ icke finansiella effekterna?</a:t>
                      </a:r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r>
                        <a:rPr lang="sv-SE" sz="1000" dirty="0"/>
                        <a:t>Exempel:</a:t>
                      </a:r>
                    </a:p>
                    <a:p>
                      <a:endParaRPr lang="sv-S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200" dirty="0" err="1"/>
                        <a:t>Scope</a:t>
                      </a:r>
                      <a:endParaRPr lang="sv-SE" sz="1200" dirty="0"/>
                    </a:p>
                    <a:p>
                      <a:r>
                        <a:rPr lang="sv-SE" sz="1000" dirty="0"/>
                        <a:t>Vad innehåller lösningen?</a:t>
                      </a:r>
                    </a:p>
                    <a:p>
                      <a:r>
                        <a:rPr lang="sv-SE" sz="1000" dirty="0"/>
                        <a:t>Vilka begränsningar finns?</a:t>
                      </a:r>
                    </a:p>
                    <a:p>
                      <a:r>
                        <a:rPr lang="sv-SE" sz="1000" u="sng" dirty="0"/>
                        <a:t>Hur tidskritiskt är lösningen?</a:t>
                      </a:r>
                    </a:p>
                    <a:p>
                      <a:r>
                        <a:rPr lang="sv-SE" sz="1000" dirty="0"/>
                        <a:t>Hur relevant är lösningen kopplat mot företagets övergripande mål?</a:t>
                      </a:r>
                      <a:endParaRPr lang="sv-SE" sz="1000" b="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sv-SE" sz="1200" dirty="0"/>
                        <a:t>Intressenter</a:t>
                      </a:r>
                    </a:p>
                    <a:p>
                      <a:r>
                        <a:rPr lang="sv-SE" sz="1000" dirty="0"/>
                        <a:t>Vilka?</a:t>
                      </a:r>
                    </a:p>
                    <a:p>
                      <a:r>
                        <a:rPr lang="sv-SE" sz="1000" dirty="0"/>
                        <a:t>Vika är deras prioriterade behov? </a:t>
                      </a:r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  <a:p>
                      <a:endParaRPr lang="sv-S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0278731"/>
                  </a:ext>
                </a:extLst>
              </a:tr>
              <a:tr h="1164735">
                <a:tc v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200" dirty="0"/>
                        <a:t>Resurser</a:t>
                      </a:r>
                    </a:p>
                    <a:p>
                      <a:r>
                        <a:rPr lang="sv-SE" sz="1000" dirty="0"/>
                        <a:t>Vilka materiella/immateriella resurser krävs?</a:t>
                      </a:r>
                    </a:p>
                    <a:p>
                      <a:r>
                        <a:rPr lang="sv-SE" sz="1000" dirty="0"/>
                        <a:t>Interna och Externa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sz="1200" dirty="0"/>
                        <a:t>Risker</a:t>
                      </a:r>
                    </a:p>
                    <a:p>
                      <a:r>
                        <a:rPr lang="sv-SE" sz="1000" dirty="0"/>
                        <a:t>Vad kan gå fel?</a:t>
                      </a:r>
                    </a:p>
                    <a:p>
                      <a:r>
                        <a:rPr lang="sv-SE" sz="1000" dirty="0"/>
                        <a:t>Vad är konsekvenserna?</a:t>
                      </a:r>
                    </a:p>
                    <a:p>
                      <a:r>
                        <a:rPr lang="sv-SE" sz="1000" dirty="0"/>
                        <a:t>Vilka </a:t>
                      </a:r>
                      <a:r>
                        <a:rPr lang="sv-SE" sz="1000" dirty="0" err="1"/>
                        <a:t>mitigerande</a:t>
                      </a:r>
                      <a:r>
                        <a:rPr lang="sv-SE" sz="1000" dirty="0"/>
                        <a:t> åtgärder kan vi vidta?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553045"/>
                  </a:ext>
                </a:extLst>
              </a:tr>
              <a:tr h="1105350">
                <a:tc gridSpan="3">
                  <a:txBody>
                    <a:bodyPr/>
                    <a:lstStyle/>
                    <a:p>
                      <a:r>
                        <a:rPr lang="sv-SE" sz="1200" dirty="0"/>
                        <a:t>Kostnader</a:t>
                      </a:r>
                    </a:p>
                    <a:p>
                      <a:r>
                        <a:rPr lang="sv-SE" sz="1000" dirty="0"/>
                        <a:t>Vilka är de huvudsakliga kostnaderna?</a:t>
                      </a:r>
                    </a:p>
                    <a:p>
                      <a:r>
                        <a:rPr lang="sv-SE" sz="1000" dirty="0"/>
                        <a:t>Vad är den ungefärliga uppskattade budgeten?</a:t>
                      </a:r>
                    </a:p>
                    <a:p>
                      <a:r>
                        <a:rPr lang="sv-SE" sz="1000" dirty="0"/>
                        <a:t>Hur stor är kostnaden för investeringen under dess livstid?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sv-SE" sz="1200" dirty="0"/>
                        <a:t>Mätpunkter</a:t>
                      </a:r>
                    </a:p>
                    <a:p>
                      <a:r>
                        <a:rPr lang="sv-SE" sz="1000" dirty="0"/>
                        <a:t>Hur vet vi om vi har lyckats?</a:t>
                      </a:r>
                    </a:p>
                    <a:p>
                      <a:r>
                        <a:rPr lang="sv-SE" sz="1000" dirty="0"/>
                        <a:t>Vilka mätpunkter kan vi använda?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732677"/>
                  </a:ext>
                </a:extLst>
              </a:tr>
            </a:tbl>
          </a:graphicData>
        </a:graphic>
      </p:graphicFrame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FE9F208E-CC1B-4299-963E-581ABFF3C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5441561"/>
              </p:ext>
            </p:extLst>
          </p:nvPr>
        </p:nvGraphicFramePr>
        <p:xfrm>
          <a:off x="9220185" y="4602963"/>
          <a:ext cx="2133613" cy="542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87902" imgH="891540" progId="Excel.Sheet.12">
                  <p:embed/>
                </p:oleObj>
              </mc:Choice>
              <mc:Fallback>
                <p:oleObj name="Worksheet" r:id="rId2" imgW="3687902" imgH="891540" progId="Excel.Sheet.12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FE9F208E-CC1B-4299-963E-581ABFF3C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20185" y="4602963"/>
                        <a:ext cx="2133613" cy="542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2720F01E-E5D3-4E81-9400-B69106CAEF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5185591"/>
              </p:ext>
            </p:extLst>
          </p:nvPr>
        </p:nvGraphicFramePr>
        <p:xfrm>
          <a:off x="4956174" y="4203383"/>
          <a:ext cx="1962785" cy="141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988598" imgH="1562205" progId="Excel.Sheet.12">
                  <p:embed/>
                </p:oleObj>
              </mc:Choice>
              <mc:Fallback>
                <p:oleObj name="Worksheet" r:id="rId4" imgW="1988598" imgH="1562205" progId="Excel.Sheet.12">
                  <p:embed/>
                  <p:pic>
                    <p:nvPicPr>
                      <p:cNvPr id="6" name="Objekt 5">
                        <a:extLst>
                          <a:ext uri="{FF2B5EF4-FFF2-40B4-BE49-F238E27FC236}">
                            <a16:creationId xmlns:a16="http://schemas.microsoft.com/office/drawing/2014/main" id="{2720F01E-E5D3-4E81-9400-B69106CAEF64}"/>
                          </a:ext>
                        </a:extLst>
                      </p:cNvPr>
                      <p:cNvPicPr preferRelativeResize="0"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56174" y="4203383"/>
                        <a:ext cx="1962785" cy="141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27750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Två vägar in – välj rätt kravfångst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353" y="999385"/>
            <a:ext cx="10681445" cy="6858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Alla behov registreras på ett ställe. En kort triage avgör vilken tjänst som används – så att stora satsningar får ett genomarbetat beslutsunderlag och små förbättringar inte fastnar i onödig process.</a:t>
            </a:r>
          </a:p>
        </p:txBody>
      </p:sp>
      <p:sp>
        <p:nvSpPr>
          <p:cNvPr id="4" name="Kort A"/>
          <p:cNvSpPr/>
          <p:nvPr/>
        </p:nvSpPr>
        <p:spPr>
          <a:xfrm>
            <a:off x="672353" y="1868065"/>
            <a:ext cx="5157842" cy="3749039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353" y="1868065"/>
            <a:ext cx="5157842" cy="86868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5233" y="209666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8153" y="1941217"/>
            <a:ext cx="4334882" cy="73152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Kravfångst – Större initiativ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Nya förmågor, flera team eller väsentlig investering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233" y="2919625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Underlag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5353" y="2919625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Business case (canvas A) + exec.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233" y="343168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Beslut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5353" y="3431689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Portfölj-/ledningsgrupp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233" y="3943753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Ledtid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5353" y="3943753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3–6 veckor till beslut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233" y="4455817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Insats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5353" y="4455817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Workshops med verksamhet, IT, juridik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5233" y="4967881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Resultat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5353" y="4967881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Executive summary med prioscore, godkänt case, epics</a:t>
            </a:r>
          </a:p>
        </p:txBody>
      </p:sp>
      <p:sp>
        <p:nvSpPr>
          <p:cNvPr id="18" name="Kort B"/>
          <p:cNvSpPr/>
          <p:nvPr/>
        </p:nvSpPr>
        <p:spPr>
          <a:xfrm>
            <a:off x="6195955" y="1868065"/>
            <a:ext cx="5157842" cy="3749039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5955" y="1868065"/>
            <a:ext cx="5157842" cy="86868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78835" y="2096665"/>
            <a:ext cx="384048" cy="384048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1755" y="1941217"/>
            <a:ext cx="4334882" cy="73152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Kravfångst – Mindre vidareutveckling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Förbättringar i befintliga system och processer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8835" y="2919625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Underlag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8955" y="2919625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User story-mall (underlag 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8835" y="343168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Beslut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8955" y="3431689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Produktägare / förvaltningsforum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8835" y="3943753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Ledtid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8955" y="3943753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1–5 arbetsdagar till beslut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8835" y="4455817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Insats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8955" y="4455817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Ett avstämningsmöte (30–60 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8835" y="4967881"/>
            <a:ext cx="914400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Resultat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8955" y="4967881"/>
            <a:ext cx="3831962" cy="4572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User story med behov och acceptanskriterier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Triage – stort initiativ eller mindre vidareutveckling?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353" y="999385"/>
            <a:ext cx="10681445" cy="54864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Ett enda "ja" nedan leder till Tjänst A. Annars Tjänst B. Vid tveksamhet avgör produktägaren tillsammans med portföljansvarig.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353" y="1730905"/>
            <a:ext cx="6766560" cy="603504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513" y="1840633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2433" y="1730905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Kostnad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1153" y="1730905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Uppskattad insats över ~300 timmar eller extern investering?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353" y="2444137"/>
            <a:ext cx="6766560" cy="603504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9513" y="255386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2433" y="2444137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Omfattning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01153" y="2444137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Berörs flera system, team eller verksamhetsområden?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353" y="3157369"/>
            <a:ext cx="6766560" cy="603504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9513" y="3267097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2433" y="3157369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Strategi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1153" y="3157369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Är det en ny förmåga, tjänst eller kundgrupp?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353" y="3870601"/>
            <a:ext cx="6766560" cy="603504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9513" y="3980329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2433" y="3870601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Regelverk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1153" y="3870601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Påverkas juridik, compliance, informationssäkerhet eller personuppgifter väsentligt?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353" y="4583833"/>
            <a:ext cx="6766560" cy="603504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9513" y="4693561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2433" y="4583833"/>
            <a:ext cx="11887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1153" y="4583833"/>
            <a:ext cx="4846320" cy="603504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Skulle ett misslyckande ge stor påverkan på kunder eller verksamhet?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04673" y="1730905"/>
            <a:ext cx="3549125" cy="164592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Minst ett ja</a:t>
            </a:r>
          </a:p>
          <a:p>
            <a:pPr algn="l"/>
            <a:r>
              <a:rPr sz="2600" b="1" i="0">
                <a:solidFill>
                  <a:srgbClr val="FFFFFF"/>
                </a:solidFill>
              </a:rPr>
              <a:t>Tjänst A</a:t>
            </a:r>
          </a:p>
          <a:p>
            <a:pPr algn="l"/>
            <a:r>
              <a:rPr sz="1400" b="0" i="0">
                <a:solidFill>
                  <a:srgbClr val="FFFFFF"/>
                </a:solidFill>
              </a:rPr>
              <a:t>Större initiativ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4673" y="3651145"/>
            <a:ext cx="3549125" cy="16459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73152" bIns="73152"/>
          <a:lstStyle/>
          <a:p>
            <a:pPr algn="l"/>
            <a:r>
              <a:rPr sz="1300" b="0" i="0">
                <a:solidFill>
                  <a:srgbClr val="375623"/>
                </a:solidFill>
              </a:rPr>
              <a:t>Bara nej</a:t>
            </a:r>
          </a:p>
          <a:p>
            <a:pPr algn="l"/>
            <a:r>
              <a:rPr sz="2600" b="1" i="0">
                <a:solidFill>
                  <a:srgbClr val="375623"/>
                </a:solidFill>
              </a:rPr>
              <a:t>Tjänst B</a:t>
            </a:r>
          </a:p>
          <a:p>
            <a:pPr algn="l"/>
            <a:r>
              <a:rPr sz="1400" b="0" i="0">
                <a:solidFill>
                  <a:srgbClr val="375623"/>
                </a:solidFill>
              </a:rPr>
              <a:t>Mindre vidareutveckling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Tjänst A – Kravfångst för större initiativ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353" y="999385"/>
            <a:ext cx="10681445" cy="54864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Från idé till beslutat och utvecklingsbart initiativ på 3–6 veckor. Tjänsten leds av en kravanalytiker tillsammans med initiativtagaren.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353" y="1776625"/>
            <a:ext cx="1989985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513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6713" y="1849777"/>
            <a:ext cx="1349905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Intag &amp;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513" y="2462425"/>
            <a:ext cx="1761385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Initiativtagare, kravanalytiker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Idé registreras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Triage bekräftar Tjänst A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Beställare och sponsor utses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353" y="4291225"/>
            <a:ext cx="1989985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Uppdrag, kontaktlista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45218" y="1776625"/>
            <a:ext cx="1989985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82378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9578" y="1849777"/>
            <a:ext cx="1349905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Problem &amp; effekter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2378" y="2462425"/>
            <a:ext cx="1761385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Workshop 1 – verksamhet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Problem och vem som har det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Mål och önskade effekter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Intressenter och behov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45218" y="4291225"/>
            <a:ext cx="1989985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Problem- och effektbild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8083" y="1776625"/>
            <a:ext cx="1989985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55243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2443" y="1849777"/>
            <a:ext cx="1349905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Lösning &amp;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5243" y="2462425"/>
            <a:ext cx="1761385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Workshop 2 – verksamhet, IT, arkitektur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Lösningsalternativ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Scope, avgränsning, MVP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Resurser och beroenden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8083" y="4291225"/>
            <a:ext cx="1989985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Lösningsskiss, MVP-scope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90948" y="1776625"/>
            <a:ext cx="1989985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28108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308" y="1849777"/>
            <a:ext cx="1349905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Business case &amp; prioscore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8108" y="2462425"/>
            <a:ext cx="1761385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Kravanalytiker, ekonomi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Kostnad, nytta, ROI och risker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Poäng för affärsvärde och komplexitet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Strategikoppling i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90948" y="4291225"/>
            <a:ext cx="1989985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Canvas A + executive summary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63813" y="1776625"/>
            <a:ext cx="1989985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0973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58173" y="1849777"/>
            <a:ext cx="1349905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Beslut &amp; redo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973" y="2462425"/>
            <a:ext cx="1761385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Portföljforum, juridik/compliance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Executive summary presenteras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Prioscore jämförs i portföljen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Go / no-go, epics i backlog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63813" y="4291225"/>
            <a:ext cx="1989985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Redo för utveckling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353" y="5251345"/>
            <a:ext cx="10681445" cy="6858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Beslutspunkter:  </a:t>
            </a:r>
            <a:r>
              <a:rPr sz="1200">
                <a:solidFill>
                  <a:srgbClr val="262626"/>
                </a:solidFill>
              </a:rPr>
              <a:t>Efter steg 2 – fortsätta eller avbryta?   ·   Efter steg 5 – finansiering och start.   Uppföljning av mätpunkter sker 3 och 12 månader efter leverans.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Tjänst B – Kravfångst för mindre vidareutveckling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353" y="999385"/>
            <a:ext cx="10681445" cy="54864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Snabb väg från behov till en färdig user story med behov och acceptanskriterier – normalt inom en vecka. Produktägaren äger flödet.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353" y="1776625"/>
            <a:ext cx="2533201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9513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6713" y="1849777"/>
            <a:ext cx="1893121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Registrera behov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513" y="2462425"/>
            <a:ext cx="2304601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Vem som helst i verksamheten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Behovet beskrivs i ärendeverktyget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Vem har behovet och varför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2353" y="4291225"/>
            <a:ext cx="2533201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Registrerat behov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434" y="1776625"/>
            <a:ext cx="2533201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5594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82794" y="1849777"/>
            <a:ext cx="1893121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Skriv user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5594" y="2462425"/>
            <a:ext cx="2304601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Produktägare + beställare + team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Som … vill jag … så att …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Acceptanskriterier (Givet/När/Så)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Grov estimering (S/M/L)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8434" y="4291225"/>
            <a:ext cx="2533201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Ifylld user story (underlag 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4515" y="1776625"/>
            <a:ext cx="2533201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1675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8875" y="1849777"/>
            <a:ext cx="1893121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Prioritera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1675" y="2462425"/>
            <a:ext cx="2304601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Produktägare / förvaltningsforum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Värde mot insats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Placering i backlog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Eskalera till Tjänst A vid behov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4515" y="4291225"/>
            <a:ext cx="2533201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Prioriterad user 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0596" y="1776625"/>
            <a:ext cx="2533201" cy="324612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57756" y="1913785"/>
            <a:ext cx="384048" cy="384048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73152" bIns="73152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4956" y="1849777"/>
            <a:ext cx="1893121" cy="54864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1" i="0">
                <a:solidFill>
                  <a:srgbClr val="262626"/>
                </a:solidFill>
              </a:rPr>
              <a:t>Redo &amp; återkoppla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7756" y="2462425"/>
            <a:ext cx="2304601" cy="178308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375623"/>
                </a:solidFill>
              </a:rPr>
              <a:t>Produktägare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Definition of Ready uppfylld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Beställaren godkänner storyn</a:t>
            </a:r>
          </a:p>
          <a:p>
            <a:pPr algn="l" marL="171450" indent="-171450">
              <a:spcAft>
                <a:spcPts val="300"/>
              </a:spcAft>
              <a:buChar char="•"/>
            </a:pPr>
            <a:r>
              <a:rPr sz="1200" b="0" i="0">
                <a:solidFill>
                  <a:srgbClr val="262626"/>
                </a:solidFill>
              </a:rPr>
              <a:t>Uppföljning efter 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0596" y="4291225"/>
            <a:ext cx="2533201" cy="73152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/>
            <a:r>
              <a:rPr sz="1100" b="1" i="0">
                <a:solidFill>
                  <a:srgbClr val="375623"/>
                </a:solidFill>
              </a:rPr>
              <a:t>Ut: </a:t>
            </a:r>
            <a:r>
              <a:rPr sz="1100">
                <a:solidFill>
                  <a:srgbClr val="262626"/>
                </a:solidFill>
              </a:rPr>
              <a:t>User story redo för utveckling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353" y="5251345"/>
            <a:ext cx="10681445" cy="68580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Eskalering:  </a:t>
            </a:r>
            <a:r>
              <a:rPr sz="1200">
                <a:solidFill>
                  <a:srgbClr val="262626"/>
                </a:solidFill>
              </a:rPr>
              <a:t>Visar förtydligandet att ärendet är större än väntat (se triagefrågorna) lyfts det till Tjänst A och återanvänder det som redan dokumenterats.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Underlag B – User story för mindre vidareutveckling</a:t>
            </a:r>
          </a:p>
        </p:txBody>
      </p:sp>
      <p:graphicFrame>
        <p:nvGraphicFramePr>
          <p:cNvPr id="3" name="User story"/>
          <p:cNvGraphicFramePr>
            <a:graphicFrameLocks noGrp="1"/>
          </p:cNvGraphicFramePr>
          <p:nvPr/>
        </p:nvGraphicFramePr>
        <p:xfrm>
          <a:off x="672353" y="999385"/>
          <a:ext cx="10681443" cy="5400000"/>
        </p:xfrm>
        <a:graphic>
          <a:graphicData uri="http://schemas.openxmlformats.org/drawingml/2006/table">
            <a:tbl>
              <a:tblPr firstRow="0" bandRow="0">
                <a:tableStyleId>{93296810-A885-4BE3-A3E7-6D5BEEA58F35}</a:tableStyleId>
              </a:tblPr>
              <a:tblGrid>
                <a:gridCol w="3560481"/>
                <a:gridCol w="3560481"/>
                <a:gridCol w="3560481"/>
              </a:tblGrid>
              <a:tr h="453296">
                <a:tc gridSpan="2"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[Storyns titel]  ·  Tjänst B – Mindre vidareutveckling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62626"/>
                          </a:solidFill>
                        </a:rPr>
                        <a:t>Beställare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Namn Namnsson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System/produkt · ÅÅÅÅ-MM-DD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</a:tr>
              <a:tr h="900000">
                <a:tc gridSpan="3"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User story</a:t>
                      </a:r>
                    </a:p>
                    <a:p>
                      <a:r>
                        <a:rPr sz="1600" b="1">
                          <a:solidFill>
                            <a:srgbClr val="375623"/>
                          </a:solidFill>
                        </a:rPr>
                        <a:t>Som </a:t>
                      </a:r>
                      <a:r>
                        <a:rPr sz="1600" b="0">
                          <a:solidFill>
                            <a:srgbClr val="595959"/>
                          </a:solidFill>
                        </a:rPr>
                        <a:t>[roll/användare]</a:t>
                      </a:r>
                      <a:r>
                        <a:rPr sz="1600" b="1">
                          <a:solidFill>
                            <a:srgbClr val="375623"/>
                          </a:solidFill>
                        </a:rPr>
                        <a:t>   vill jag </a:t>
                      </a:r>
                      <a:r>
                        <a:rPr sz="1600" b="0">
                          <a:solidFill>
                            <a:srgbClr val="595959"/>
                          </a:solidFill>
                        </a:rPr>
                        <a:t>[behov/förmåga]</a:t>
                      </a:r>
                      <a:r>
                        <a:rPr sz="1600" b="1">
                          <a:solidFill>
                            <a:srgbClr val="375623"/>
                          </a:solidFill>
                        </a:rPr>
                        <a:t>   så att </a:t>
                      </a:r>
                      <a:r>
                        <a:rPr sz="1600" b="0">
                          <a:solidFill>
                            <a:srgbClr val="595959"/>
                          </a:solidFill>
                        </a:rPr>
                        <a:t>[nytta/värde]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650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Behov &amp; bakgrund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Vad fungerar inte eller saknas idag?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Vem påverkas och hur ofta?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Nuvarande arbetssätt / workaround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Nytta &amp; mätpunkt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Vad blir bättre – tid, kvalitet, kundupplevelse, risk?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Uppskattad nytta (t.ex. timmar/månad)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Hur följer vi upp att nyttan uppnåddes?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Påverkan &amp; beroenden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Berörda system, integrationer, rapporter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Påverkas personuppgifter eller regelverk?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Triagekontroll: inget ja – annars Tjänst A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2396704">
                <a:tc gridSpan="2"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Acceptanskriterier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AC1  Givet [utgångsläge]  När [händelse/handling]  Så [förväntat resultat]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AC2  Givet …  När …  Så …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AC3  Givet …  När …  Så …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Icke-funktionella krav (prestanda, behörighet, loggning) vid behov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</a:rPr>
                        <a:t>Estimat &amp; beslut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Storlek:  ☐ S (&lt;1 v)   ☐ M (1–2 v)   ☐ L (2–4 v)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Prioriterad av PO:  ☐ Ja  ☐ Nej   ÅÅÅÅ-MM-DD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Godkänd av beställare:  ☐   ÅÅÅÅ-MM-DD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Redo för utveckling:  ☐   ÅÅÅÅ-MM-DD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Prioscore – så värderas större initiativ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2353" y="999385"/>
            <a:ext cx="10681445" cy="54864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Varje initiativ i Tjänst A poängsätts på samma sätt, så att portföljforum kan jämföra och rangordna dem i executive summary.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353" y="1730905"/>
            <a:ext cx="3377601" cy="31546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2353" y="1730905"/>
            <a:ext cx="3377601" cy="77724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Affärsvärde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Poäng 1–10, viktat snitt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5233" y="26453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Ekonomisk effekt (intäkt/besparing)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1274" y="26453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40 %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233" y="31025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Kund- och användarnytta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1274" y="31025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30 %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233" y="35597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Regelefterlevnad &amp; riskreducering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1274" y="35597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20 %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5233" y="40169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Tidskritikalitet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1274" y="40169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10 %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233" y="4428385"/>
            <a:ext cx="3011841" cy="36576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0" i="1">
                <a:solidFill>
                  <a:srgbClr val="375623"/>
                </a:solidFill>
              </a:rPr>
              <a:t>Högt = mer värde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4274" y="1730905"/>
            <a:ext cx="3377601" cy="31546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4274" y="1730905"/>
            <a:ext cx="3377601" cy="77724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Komplexitet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Poäng 1–10, viktat snitt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154" y="26453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Teknisk komplexitet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3195" y="26453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25 %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154" y="31025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Beroenden &amp; integrationer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3195" y="31025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25 %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154" y="35597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Organisatorisk förändring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3195" y="35597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25 %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154" y="40169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Osäkerhet &amp; ny teknik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3195" y="4016905"/>
            <a:ext cx="685800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r"/>
            <a:r>
              <a:rPr sz="1300" b="1" i="0">
                <a:solidFill>
                  <a:srgbClr val="375623"/>
                </a:solidFill>
              </a:rPr>
              <a:t>25 %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154" y="4428385"/>
            <a:ext cx="3011841" cy="36576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0" i="1">
                <a:solidFill>
                  <a:srgbClr val="375623"/>
                </a:solidFill>
              </a:rPr>
              <a:t>Högt = svårare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6195" y="1730905"/>
            <a:ext cx="3377601" cy="31546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76195" y="1730905"/>
            <a:ext cx="3377601" cy="777240"/>
          </a:xfrm>
          <a:prstGeom prst="rect">
            <a:avLst/>
          </a:prstGeom>
          <a:solidFill>
            <a:srgbClr val="D5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/>
            <a:r>
              <a:rPr sz="1800" b="1" i="0">
                <a:solidFill>
                  <a:srgbClr val="262626"/>
                </a:solidFill>
              </a:rPr>
              <a:t>Strategikoppling</a:t>
            </a:r>
          </a:p>
          <a:p>
            <a:pPr algn="l"/>
            <a:r>
              <a:rPr sz="1200" b="0" i="0">
                <a:solidFill>
                  <a:srgbClr val="595959"/>
                </a:solidFill>
              </a:rPr>
              <a:t>Procent → koefficient 0–1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9075" y="26453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Bidrag 0–100 % till varje strategiskt mål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9075" y="31025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× målets vikt (sätts årligen av ledningen)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9075" y="35597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Summa = strategikoppling i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9075" y="4016905"/>
            <a:ext cx="2463201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</a:rPr>
              <a:t>Koefficient = % ÷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9075" y="4428385"/>
            <a:ext cx="3011841" cy="36576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200" b="0" i="1">
                <a:solidFill>
                  <a:srgbClr val="375623"/>
                </a:solidFill>
              </a:rPr>
              <a:t>62 % → 0,62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353" y="5159905"/>
            <a:ext cx="10681445" cy="11430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Prioscore = Affärsvärde × Strategikoefficient ÷ Komplexitet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≥ 1,5  hög prioritet     ·     1,0–1,5  prioritera vid kapacitet     ·     &lt; 1,0  utmana eller omforma     |     Exempel: 8 × 0,62 ÷ 4 = 1,24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Underlag A2 – Executive summary</a:t>
            </a:r>
          </a:p>
        </p:txBody>
      </p:sp>
      <p:graphicFrame>
        <p:nvGraphicFramePr>
          <p:cNvPr id="3" name="Executive summary"/>
          <p:cNvGraphicFramePr>
            <a:graphicFrameLocks noGrp="1"/>
          </p:cNvGraphicFramePr>
          <p:nvPr/>
        </p:nvGraphicFramePr>
        <p:xfrm>
          <a:off x="672353" y="999385"/>
          <a:ext cx="5806440" cy="5349235"/>
        </p:xfrm>
        <a:graphic>
          <a:graphicData uri="http://schemas.openxmlformats.org/drawingml/2006/table">
            <a:tbl>
              <a:tblPr firstRow="0" bandRow="0">
                <a:tableStyleId>{93296810-A885-4BE3-A3E7-6D5BEEA58F35}</a:tableStyleId>
              </a:tblPr>
              <a:tblGrid>
                <a:gridCol w="1325880"/>
                <a:gridCol w="4480560"/>
              </a:tblGrid>
              <a:tr h="685800">
                <a:tc gridSpan="2"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2626"/>
                          </a:solidFill>
                        </a:rPr>
                        <a:t>[Initiativets namn]</a:t>
                      </a:r>
                    </a:p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Beställare: Namn Namnsson  ·  Sponsor: Namn Namnsson  ·  ÅÅÅÅ-MM-DD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Problem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[Vilket problem löser vi, för vem, och varför nu?]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Lösning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[Föreslagen lösning och MVP-scope i en–två meningar]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Effekter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[Viktigaste finansiella och icke-finansiella effekter]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Kostnad &amp; ROI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[Investering, löpande kostnad, ROI och återbetalningstid]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Risker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[De största riskerna och hur de hanteras]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Tid &amp; resurser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[Start, ungefärlig leveranstid, team/leverantörer]</a:t>
                      </a:r>
                    </a:p>
                  </a:txBody>
                  <a:tcPr anchor="t">
                    <a:solidFill>
                      <a:srgbClr val="EAEFE7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</a:rPr>
                        <a:t>Rekommendation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[Go / no-go / omforma – och vad som beslutas idag]</a:t>
                      </a:r>
                    </a:p>
                  </a:txBody>
                  <a:tcPr anchor="t">
                    <a:solidFill>
                      <a:srgbClr val="D5E0CF"/>
                    </a:solidFill>
                  </a:tcPr>
                </a:tc>
              </a:tr>
            </a:tbl>
          </a:graphicData>
        </a:graphic>
      </p:graphicFrame>
      <p:sp>
        <p:nvSpPr>
          <p:cNvPr id="4" name="Poäng Affärsvärde"/>
          <p:cNvSpPr/>
          <p:nvPr/>
        </p:nvSpPr>
        <p:spPr>
          <a:xfrm>
            <a:off x="6753113" y="999385"/>
            <a:ext cx="2208902" cy="10972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Affärsvärde</a:t>
            </a:r>
          </a:p>
          <a:p>
            <a:r>
              <a:rPr sz="3000" b="1">
                <a:solidFill>
                  <a:srgbClr val="262626"/>
                </a:solidFill>
              </a:rPr>
              <a:t>8</a:t>
            </a:r>
            <a:r>
              <a:rPr sz="1400">
                <a:solidFill>
                  <a:srgbClr val="262626"/>
                </a:solidFill>
              </a:rPr>
              <a:t> / 10</a:t>
            </a:r>
          </a:p>
          <a:p>
            <a:r>
              <a:rPr sz="1000">
                <a:solidFill>
                  <a:srgbClr val="595959"/>
                </a:solidFill>
              </a:rPr>
              <a:t>Viktat snitt, 4 kriterier</a:t>
            </a:r>
          </a:p>
        </p:txBody>
      </p:sp>
      <p:sp>
        <p:nvSpPr>
          <p:cNvPr id="5" name="Poäng Komplexitet"/>
          <p:cNvSpPr/>
          <p:nvPr/>
        </p:nvSpPr>
        <p:spPr>
          <a:xfrm>
            <a:off x="9144895" y="999385"/>
            <a:ext cx="2208902" cy="10972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Komplexitet</a:t>
            </a:r>
          </a:p>
          <a:p>
            <a:r>
              <a:rPr sz="3000" b="1">
                <a:solidFill>
                  <a:srgbClr val="262626"/>
                </a:solidFill>
              </a:rPr>
              <a:t>4</a:t>
            </a:r>
            <a:r>
              <a:rPr sz="1400">
                <a:solidFill>
                  <a:srgbClr val="262626"/>
                </a:solidFill>
              </a:rPr>
              <a:t> / 10</a:t>
            </a:r>
          </a:p>
          <a:p>
            <a:r>
              <a:rPr sz="1000">
                <a:solidFill>
                  <a:srgbClr val="595959"/>
                </a:solidFill>
              </a:rPr>
              <a:t>Viktat snitt, 4 kriterier</a:t>
            </a:r>
          </a:p>
        </p:txBody>
      </p:sp>
      <p:sp>
        <p:nvSpPr>
          <p:cNvPr id="6" name="Poäng Strategikoppling"/>
          <p:cNvSpPr/>
          <p:nvPr/>
        </p:nvSpPr>
        <p:spPr>
          <a:xfrm>
            <a:off x="6753113" y="2279545"/>
            <a:ext cx="2208902" cy="109728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1" i="0">
                <a:solidFill>
                  <a:srgbClr val="375623"/>
                </a:solidFill>
              </a:rPr>
              <a:t>Strategikoppling</a:t>
            </a:r>
          </a:p>
          <a:p>
            <a:r>
              <a:rPr sz="3000" b="1">
                <a:solidFill>
                  <a:srgbClr val="262626"/>
                </a:solidFill>
              </a:rPr>
              <a:t>62</a:t>
            </a:r>
            <a:r>
              <a:rPr sz="1400">
                <a:solidFill>
                  <a:srgbClr val="262626"/>
                </a:solidFill>
              </a:rPr>
              <a:t> %</a:t>
            </a:r>
          </a:p>
          <a:p>
            <a:r>
              <a:rPr sz="1000">
                <a:solidFill>
                  <a:srgbClr val="595959"/>
                </a:solidFill>
              </a:rPr>
              <a:t>Koefficient 0,62</a:t>
            </a:r>
          </a:p>
        </p:txBody>
      </p:sp>
      <p:sp>
        <p:nvSpPr>
          <p:cNvPr id="7" name="Poäng Prioscore"/>
          <p:cNvSpPr/>
          <p:nvPr/>
        </p:nvSpPr>
        <p:spPr>
          <a:xfrm>
            <a:off x="9144895" y="2279545"/>
            <a:ext cx="2208902" cy="109728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Prioscore</a:t>
            </a:r>
          </a:p>
          <a:p>
            <a:r>
              <a:rPr sz="3000" b="1">
                <a:solidFill>
                  <a:srgbClr val="FFFFFF"/>
                </a:solidFill>
              </a:rPr>
              <a:t>1,24</a:t>
            </a:r>
            <a:r>
              <a:rPr sz="1400">
                <a:solidFill>
                  <a:srgbClr val="FFFFFF"/>
                </a:solidFill>
              </a:rPr>
              <a:t/>
            </a:r>
          </a:p>
          <a:p>
            <a:r>
              <a:rPr sz="1000">
                <a:solidFill>
                  <a:srgbClr val="FFFFFF"/>
                </a:solidFill>
              </a:rPr>
              <a:t>Värde × koeff. ÷ komplexitet</a:t>
            </a:r>
          </a:p>
        </p:txBody>
      </p:sp>
      <p:graphicFrame>
        <p:nvGraphicFramePr>
          <p:cNvPr id="8" name="Strategikoppling"/>
          <p:cNvGraphicFramePr>
            <a:graphicFrameLocks noGrp="1"/>
          </p:cNvGraphicFramePr>
          <p:nvPr/>
        </p:nvGraphicFramePr>
        <p:xfrm>
          <a:off x="6753113" y="3605425"/>
          <a:ext cx="4600685" cy="1828800"/>
        </p:xfrm>
        <a:graphic>
          <a:graphicData uri="http://schemas.openxmlformats.org/drawingml/2006/table">
            <a:tbl>
              <a:tblPr firstRow="0" bandRow="0">
                <a:tableStyleId>{93296810-A885-4BE3-A3E7-6D5BEEA58F35}</a:tableStyleId>
              </a:tblPr>
              <a:tblGrid>
                <a:gridCol w="2131805"/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</a:rPr>
                        <a:t>Strategiskt mål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>Vikt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>Bidrag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>Viktat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[Mål 1]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40 %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90 %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36 %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[Mål 2]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35 %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60 %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21 %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[Mål 3]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25 %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20 %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62626"/>
                          </a:solidFill>
                        </a:rPr>
                        <a:t>5 %</a:t>
                      </a:r>
                    </a:p>
                  </a:txBody>
                  <a:tcPr anchor="t" marT="36576" marB="36576">
                    <a:solidFill>
                      <a:srgbClr val="EAEF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62626"/>
                          </a:solidFill>
                        </a:rPr>
                        <a:t>Strategikoppling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>100 %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/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262626"/>
                          </a:solidFill>
                        </a:rPr>
                        <a:t>62 %</a:t>
                      </a:r>
                    </a:p>
                  </a:txBody>
                  <a:tcPr anchor="t" marT="36576" marB="36576">
                    <a:solidFill>
                      <a:srgbClr val="D5E0C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53113" y="5525665"/>
            <a:ext cx="4600685" cy="502920"/>
          </a:xfrm>
          <a:prstGeom prst="rect">
            <a:avLst/>
          </a:prstGeom>
          <a:noFill/>
        </p:spPr>
        <p:txBody>
          <a:bodyPr wrap="square" anchor="t" lIns="0" rIns="0" tIns="73152" bIns="73152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</a:rPr>
              <a:t>Exempelvärden – ersätt med initiativets poäng. Prioscore = Affärsvärde × Strategikoefficient ÷ Komplexitet.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353" y="365125"/>
            <a:ext cx="10681445" cy="450663"/>
          </a:xfrm>
        </p:spPr>
        <p:txBody>
          <a:bodyPr/>
          <a:lstStyle/>
          <a:p>
            <a:r>
              <a:rPr sz="3200"/>
              <a:t>Definition of Ready – när är kravfångsten klar?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72353" y="999385"/>
            <a:ext cx="5157842" cy="54864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Tjänst A – Större initiativ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353" y="1548025"/>
            <a:ext cx="5157842" cy="457200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0953" y="1804057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12433" y="1730905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Canvas A ifylld och granskad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953" y="2316121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2433" y="2242969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Problem, effekter och mätpunkter överenskomna</a:t>
            </a:r>
          </a:p>
        </p:txBody>
      </p:sp>
      <p:sp>
        <p:nvSpPr>
          <p:cNvPr id="9" name="Rectangle 8"/>
          <p:cNvSpPr/>
          <p:nvPr/>
        </p:nvSpPr>
        <p:spPr>
          <a:xfrm>
            <a:off x="900953" y="2828185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2433" y="2755033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Kostnad och ROI uppskattade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953" y="3340249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2433" y="3267097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Executive summary med prioscore klar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953" y="3852313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2433" y="3779161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Godkänt av juridik/compliance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953" y="4364377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2433" y="4291225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Go-beslut i portföljforum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953" y="4876441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2433" y="4803289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Epics och MVP-scope i backlog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5955" y="999385"/>
            <a:ext cx="5157842" cy="548640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Tjänst B – Mindre vidareutveckling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5955" y="1548025"/>
            <a:ext cx="5157842" cy="4572000"/>
          </a:xfrm>
          <a:prstGeom prst="rect">
            <a:avLst/>
          </a:prstGeom>
          <a:solidFill>
            <a:srgbClr val="EA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24555" y="1804057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6035" y="1730905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User story: Som … vill jag … så att 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4555" y="2316121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36035" y="2242969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Behov och bakgrund beskrivna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24555" y="2828185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6035" y="2755033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Acceptanskriterier skrivna och förstådda av teamet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24555" y="3340249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6035" y="3267097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Estimerad (S/M/L) och prioriterad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4555" y="3852313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6035" y="3779161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Beroenden och regelpåverkan kontrollerade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4555" y="4364377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6035" y="4291225"/>
            <a:ext cx="4334882" cy="411480"/>
          </a:xfrm>
          <a:prstGeom prst="rect">
            <a:avLst/>
          </a:prstGeom>
          <a:noFill/>
        </p:spPr>
        <p:txBody>
          <a:bodyPr wrap="square" anchor="ctr" lIns="0" rIns="0" tIns="73152" bIns="73152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</a:rPr>
              <a:t>Godkänd av beställaren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8FF27651DF0B24C97E7BB51A0F8F67D000D71841FEFE92143A0CC3FDCAD6AFA7D" ma:contentTypeVersion="7" ma:contentTypeDescription="Skapa ett nytt dokument" ma:contentTypeScope="" ma:versionID="a1e1075035614d57e29fc5ccbbc3ba7c">
  <xsd:schema xmlns:xsd="http://www.w3.org/2001/XMLSchema" xmlns:xs="http://www.w3.org/2001/XMLSchema" xmlns:p="http://schemas.microsoft.com/office/2006/metadata/properties" xmlns:ns2="f4e4b39b-e998-4065-bfcd-98c931be1491" targetNamespace="http://schemas.microsoft.com/office/2006/metadata/properties" ma:root="true" ma:fieldsID="c2c3441a17649d3aa1a77cf3b7f8c35c" ns2:_="">
    <xsd:import namespace="f4e4b39b-e998-4065-bfcd-98c931be1491"/>
    <xsd:element name="properties">
      <xsd:complexType>
        <xsd:sequence>
          <xsd:element name="documentManagement">
            <xsd:complexType>
              <xsd:all>
                <xsd:element ref="ns2:Gallringsdatum" minOccurs="0"/>
                <xsd:element ref="ns2:Personuppgift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4b39b-e998-4065-bfcd-98c931be1491" elementFormDefault="qualified">
    <xsd:import namespace="http://schemas.microsoft.com/office/2006/documentManagement/types"/>
    <xsd:import namespace="http://schemas.microsoft.com/office/infopath/2007/PartnerControls"/>
    <xsd:element name="Gallringsdatum" ma:index="8" nillable="true" ma:displayName="Gallringsdatum" ma:format="DateOnly" ma:indexed="true" ma:internalName="Gallringsdatum">
      <xsd:simpleType>
        <xsd:restriction base="dms:DateTime"/>
      </xsd:simpleType>
    </xsd:element>
    <xsd:element name="Personuppgifter" ma:index="9" nillable="true" ma:displayName="Personuppgifter" ma:internalName="Personuppgifter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allringsdatum xmlns="f4e4b39b-e998-4065-bfcd-98c931be1491" xsi:nil="true"/>
    <Personuppgifter xmlns="f4e4b39b-e998-4065-bfcd-98c931be1491" xsi:nil="true"/>
  </documentManagement>
</p:properties>
</file>

<file path=customXml/itemProps1.xml><?xml version="1.0" encoding="utf-8"?>
<ds:datastoreItem xmlns:ds="http://schemas.openxmlformats.org/officeDocument/2006/customXml" ds:itemID="{3E547E4D-4C24-4E1D-A14D-B24A0FC2D5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A38220-1B80-4710-990E-A4650D7954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e4b39b-e998-4065-bfcd-98c931be14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A2F2AF-C43E-4086-AA27-B40F0E0D9B5F}">
  <ds:schemaRefs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f4e4b39b-e998-4065-bfcd-98c931be1491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1105</TotalTime>
  <Words>174</Words>
  <Application>Microsoft Office PowerPoint</Application>
  <PresentationFormat>Bredbild</PresentationFormat>
  <Paragraphs>48</Paragraphs>
  <Slides>2</Slides>
  <Notes>0</Notes>
  <HiddenSlides>0</HiddenSlides>
  <MMClips>0</MMClips>
  <ScaleCrop>false</ScaleCrop>
  <HeadingPairs>
    <vt:vector size="8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Office-tema</vt:lpstr>
      <vt:lpstr>Worksheet</vt:lpstr>
      <vt:lpstr>Mall – Executive summary - Business case and opportunities</vt:lpstr>
      <vt:lpstr>Sammanfattning- Business opportunity / 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Per Rinman</dc:creator>
  <cp:lastModifiedBy>Per Rinman</cp:lastModifiedBy>
  <cp:revision>25</cp:revision>
  <dcterms:created xsi:type="dcterms:W3CDTF">2024-04-11T12:31:55Z</dcterms:created>
  <dcterms:modified xsi:type="dcterms:W3CDTF">2025-05-19T11:40:40Z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0x010100C8FF27651DF0B24C97E7BB51A0F8F67D000D71841FEFE92143A0CC3FDCAD6AFA7D</vt:lpwstr>
  </property>
</Properties>
</file>